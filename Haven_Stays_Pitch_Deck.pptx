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HAVEN STAYS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MEDINI HOMES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Conciergerie Premium Villas &amp; Riads • Marrakech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4389120"/>
            <a:ext cx="4572000" cy="73152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villa mérite mieux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villa est vacante ou sous-exploitée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148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locative est chronophage et complexe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063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agences généralistes ne comprennent pas les villas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Haven Stays : l'art de la gestion locative d'exception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B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transformons votre villa en un bien performant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20240" cy="1645920"/>
          </a:xfrm>
          <a:prstGeom prst="rect">
            <a:avLst/>
          </a:prstGeom>
          <a:solidFill>
            <a:srgbClr val="C5A55A">
              <a:alpha val="85000"/>
            </a:srgbClr>
          </a:solidFill>
          <a:ln w="25400">
            <a:solidFill>
              <a:srgbClr val="C5A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Expertise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1828800"/>
            <a:ext cx="1920240" cy="1645920"/>
          </a:xfrm>
          <a:prstGeom prst="rect">
            <a:avLst/>
          </a:prstGeom>
          <a:solidFill>
            <a:srgbClr val="D4BA7A">
              <a:alpha val="85000"/>
            </a:srgbClr>
          </a:solidFill>
          <a:ln w="25400">
            <a:solidFill>
              <a:srgbClr val="D4B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Sérénité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1920240" cy="1645920"/>
          </a:xfrm>
          <a:prstGeom prst="rect">
            <a:avLst/>
          </a:prstGeom>
          <a:solidFill>
            <a:srgbClr val="C5A55A">
              <a:alpha val="85000"/>
            </a:srgbClr>
          </a:solidFill>
          <a:ln w="2540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1920240" cy="1645920"/>
          </a:xfrm>
          <a:prstGeom prst="rect">
            <a:avLst/>
          </a:prstGeom>
          <a:solidFill>
            <a:srgbClr val="D4BA7A">
              <a:alpha val="85000"/>
            </a:srgbClr>
          </a:solidFill>
          <a:ln w="25400">
            <a:solidFill>
              <a:srgbClr val="D4B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prise en charge complète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73152" cy="1554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5F0E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Diffusion &amp; Réservations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Mise en ligne multi-plateformes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Optimisation des annonces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Gestion des réservations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73152" cy="1554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5F0E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Accueil &amp; Expérience Voyageur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Check-in/check-out simplifié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24/7 multi-langue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Conciergerie premium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F5F0E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Entretien &amp; Maintenance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Nettoyage professionnel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Entretien régulier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Interventions d'urgence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73152" cy="1554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rgbClr val="F5F0E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&amp; Reporting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Tableaux de bord détaillés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Analyses de marché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Optimisation tarifaire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l'onboarding à la première réservation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63040" y="1188720"/>
            <a:ext cx="731520" cy="73152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Évaluation gratuite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votre villa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5A55A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731520" cy="73152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en ligne en 7 jours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788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annonces,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5A55A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949440" y="1188720"/>
            <a:ext cx="731520" cy="73152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gère, vous encaissez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788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maximisés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 résultats parlent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60320" cy="1280160"/>
          </a:xfrm>
          <a:prstGeom prst="rect">
            <a:avLst/>
          </a:prstGeom>
          <a:solidFill>
            <a:srgbClr val="162230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d'occupation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188720"/>
            <a:ext cx="2560320" cy="1280160"/>
          </a:xfrm>
          <a:prstGeom prst="rect">
            <a:avLst/>
          </a:prstGeom>
          <a:solidFill>
            <a:srgbClr val="162230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325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0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longue durée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188720"/>
            <a:ext cx="2560320" cy="1280160"/>
          </a:xfrm>
          <a:prstGeom prst="rect">
            <a:avLst/>
          </a:prstGeom>
          <a:solidFill>
            <a:srgbClr val="162230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325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4.8/5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766560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2560320" cy="1280160"/>
          </a:xfrm>
          <a:prstGeom prst="rect">
            <a:avLst/>
          </a:prstGeom>
          <a:solidFill>
            <a:srgbClr val="162230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&lt;15min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clients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834640"/>
            <a:ext cx="2560320" cy="1280160"/>
          </a:xfrm>
          <a:prstGeom prst="rect">
            <a:avLst/>
          </a:prstGeom>
          <a:solidFill>
            <a:srgbClr val="162230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&lt;7j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84048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réservation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834640"/>
            <a:ext cx="2560320" cy="1280160"/>
          </a:xfrm>
          <a:prstGeom prst="rect">
            <a:avLst/>
          </a:prstGeom>
          <a:solidFill>
            <a:srgbClr val="162230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76656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la courte durée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3ch Palmeraie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468880" y="1143000"/>
            <a:ext cx="754380" cy="2286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5" name="Text 3"/>
          <p:cNvSpPr/>
          <p:nvPr/>
        </p:nvSpPr>
        <p:spPr>
          <a:xfrm>
            <a:off x="340614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MAD/an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417320"/>
            <a:ext cx="1428750" cy="2286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5"/>
          <p:cNvSpPr/>
          <p:nvPr/>
        </p:nvSpPr>
        <p:spPr>
          <a:xfrm>
            <a:off x="408051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MAD/an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207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+89%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4ch Ourika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514600"/>
            <a:ext cx="857250" cy="2286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1" name="Text 9"/>
          <p:cNvSpPr/>
          <p:nvPr/>
        </p:nvSpPr>
        <p:spPr>
          <a:xfrm>
            <a:off x="350901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MAD/an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788920"/>
            <a:ext cx="2057400" cy="2286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MAD/an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2578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+140%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0" y="3840480"/>
            <a:ext cx="228600" cy="2286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annuelle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840480"/>
            <a:ext cx="228600" cy="2286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courte durée (Haven Stays)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Toutes les conciergeries ne se valent pas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412480" cy="41148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51760" y="960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classique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0" y="960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Stays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412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325880"/>
            <a:ext cx="3200400" cy="411480"/>
          </a:xfrm>
          <a:prstGeom prst="rect">
            <a:avLst/>
          </a:prstGeom>
          <a:solidFill>
            <a:srgbClr val="D4BA7A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 premium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8412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737360"/>
            <a:ext cx="3200400" cy="411480"/>
          </a:xfrm>
          <a:prstGeom prst="rect">
            <a:avLst/>
          </a:prstGeom>
          <a:solidFill>
            <a:srgbClr val="D4BA7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15-25% commission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tout inclus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148840"/>
            <a:ext cx="8412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148840"/>
            <a:ext cx="3200400" cy="411480"/>
          </a:xfrm>
          <a:prstGeom prst="rect">
            <a:avLst/>
          </a:prstGeom>
          <a:solidFill>
            <a:srgbClr val="D4BA7A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Ménage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prévoir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560320"/>
            <a:ext cx="8412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2560320"/>
            <a:ext cx="3200400" cy="411480"/>
          </a:xfrm>
          <a:prstGeom prst="rect">
            <a:avLst/>
          </a:prstGeom>
          <a:solidFill>
            <a:srgbClr val="D4BA7A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Basique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Détaillé &amp; temps réel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2971800"/>
            <a:ext cx="8412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971800"/>
            <a:ext cx="3200400" cy="411480"/>
          </a:xfrm>
          <a:prstGeom prst="rect">
            <a:avLst/>
          </a:prstGeom>
          <a:solidFill>
            <a:srgbClr val="D4BA7A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coordonner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 locaux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383280"/>
            <a:ext cx="8412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3383280"/>
            <a:ext cx="3200400" cy="411480"/>
          </a:xfrm>
          <a:prstGeom prst="rect">
            <a:avLst/>
          </a:prstGeom>
          <a:solidFill>
            <a:srgbClr val="D4BA7A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51760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24/7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revenu par séjour • Tout inclus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828800" cy="548640"/>
          </a:xfrm>
          <a:prstGeom prst="rect">
            <a:avLst/>
          </a:prstGeom>
          <a:solidFill>
            <a:srgbClr val="C5A55A">
              <a:alpha val="90000"/>
            </a:srgbClr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Expertise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2651760"/>
            <a:ext cx="1828800" cy="548640"/>
          </a:xfrm>
          <a:prstGeom prst="rect">
            <a:avLst/>
          </a:prstGeom>
          <a:solidFill>
            <a:srgbClr val="C5A55A">
              <a:alpha val="90000"/>
            </a:srgbClr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Sérénité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651760"/>
            <a:ext cx="1828800" cy="548640"/>
          </a:xfrm>
          <a:prstGeom prst="rect">
            <a:avLst/>
          </a:prstGeom>
          <a:solidFill>
            <a:srgbClr val="C5A55A">
              <a:alpha val="90000"/>
            </a:srgbClr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651760"/>
            <a:ext cx="1828800" cy="548640"/>
          </a:xfrm>
          <a:prstGeom prst="rect">
            <a:avLst/>
          </a:prstGeom>
          <a:solidFill>
            <a:srgbClr val="C5A55A">
              <a:alpha val="90000"/>
            </a:srgbClr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B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frais caché. Aucune surprise.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quartiers premium de Marrakech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Palmeraie — 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 spacieuses &amp; piscines privées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Ourika —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Propriétés de charme avec jardin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Kasbah —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920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Riads traditionnels &amp; authentiques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377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spectaculaires sur les montagnes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834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Medina —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Maisons d'hôtes de caractère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Hivernage —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villas avec services 5-étoiles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37160" cy="13716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Amelkis —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Propriétés prestige &amp; golf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Ils nous font confiance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"Haven Stays a transformé ma villa en véritable machine à cash. En 6 mois, mes revenus ont augmenté de 42%. L'équipe gère tout, je ne fais que profiter des résultats."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Zakaria M., Palmeraie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75120" y="1920240"/>
            <a:ext cx="1737360" cy="411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920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+42% de revenus en 6 mois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"Enfin une agence qui comprend les villas premium. Service impeccable, reporting détaillé, et mes hôtes sont ravis. Je recommande sans hésiter."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B., Route Ourika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3611880"/>
            <a:ext cx="1737360" cy="411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611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 satisfaction clients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Démarrer avec Haven Stays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43000" y="1280160"/>
            <a:ext cx="640080" cy="6400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828800" cy="914400"/>
          </a:xfrm>
          <a:prstGeom prst="rect">
            <a:avLst/>
          </a:prstGeom>
          <a:solidFill>
            <a:srgbClr val="F5F0E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&amp; évaluation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600200"/>
            <a:ext cx="137160" cy="0"/>
          </a:xfrm>
          <a:prstGeom prst="line">
            <a:avLst/>
          </a:prstGeom>
          <a:noFill/>
          <a:ln w="25400">
            <a:solidFill>
              <a:srgbClr val="C5A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280160"/>
            <a:ext cx="640080" cy="6400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194560"/>
            <a:ext cx="1828800" cy="914400"/>
          </a:xfrm>
          <a:prstGeom prst="rect">
            <a:avLst/>
          </a:prstGeom>
          <a:solidFill>
            <a:srgbClr val="F5F0E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annonces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600200"/>
            <a:ext cx="137160" cy="0"/>
          </a:xfrm>
          <a:prstGeom prst="line">
            <a:avLst/>
          </a:prstGeom>
          <a:noFill/>
          <a:ln w="25400">
            <a:solidFill>
              <a:srgbClr val="C5A5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1280160"/>
            <a:ext cx="640080" cy="6400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 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194560"/>
            <a:ext cx="1828800" cy="914400"/>
          </a:xfrm>
          <a:prstGeom prst="rect">
            <a:avLst/>
          </a:prstGeom>
          <a:solidFill>
            <a:srgbClr val="F5F0E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&amp; mise en ligne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600200"/>
            <a:ext cx="137160" cy="0"/>
          </a:xfrm>
          <a:prstGeom prst="line">
            <a:avLst/>
          </a:prstGeom>
          <a:noFill/>
          <a:ln w="25400">
            <a:solidFill>
              <a:srgbClr val="C5A5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1280160"/>
            <a:ext cx="640080" cy="6400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 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194560"/>
            <a:ext cx="1828800" cy="914400"/>
          </a:xfrm>
          <a:prstGeom prst="rect">
            <a:avLst/>
          </a:prstGeom>
          <a:solidFill>
            <a:srgbClr val="F5F0E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réservation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Combien pourrait rapporter votre villa 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" cy="7315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solidFill>
            <a:srgbClr val="162230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3ch Palmeraie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350 - 500 K MAD/an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5A55A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9496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B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29 - 42 K MAD/mois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864" cy="7315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solidFill>
            <a:srgbClr val="162230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4ch Route Ourika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450 - 700 K MAD/an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5A55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B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38 - 58 K MAD/mois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4864" cy="7315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solidFill>
            <a:srgbClr val="162230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5ch+ Amelkis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639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600 - 1,000 K MAD/an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5A55A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9496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B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50 - 83 K MAD/mois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Prêt à maximiser vos revenus 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645920"/>
          </a:xfrm>
          <a:prstGeom prst="rect">
            <a:avLst/>
          </a:prstGeom>
          <a:solidFill>
            <a:srgbClr val="162230"/>
          </a:solidFill>
          <a:ln w="25400">
            <a:solidFill>
              <a:srgbClr val="C5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9659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Contactez-nous dès aujourd'hui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54480" y="23774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+212 6 00 00 00 00 (WhatsApp disponible)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26974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contact@havenstays.ma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3017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www.havenstays.ma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B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gratuite et sans engagement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2026-03-30T11:09:51Z</dcterms:created>
  <dcterms:modified xsi:type="dcterms:W3CDTF">2026-03-30T11:09:51Z</dcterms:modified>
</cp:coreProperties>
</file>